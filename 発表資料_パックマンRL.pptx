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00000"/>
            <a:ext cx="12193200" cy="54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40000"/>
            <a:ext cx="12193200" cy="54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111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Python言語と強化学習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800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CC00"/>
                </a:solidFill>
              </a:rPr>
              <a:t>パックマン強化学習 ＋ カーナビ風可視化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2772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中間発表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342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CC00"/>
                </a:solidFill>
              </a:rPr>
              <a:t>第◯班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0" y="432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124I029  小竹 倖
124I087  DU ZHETONG
124I152  吉田 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3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目次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0000" y="6678000"/>
            <a:ext cx="5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00"/>
            <a:ext cx="12193200" cy="54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" y="720000"/>
            <a:ext cx="432000" cy="46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774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792000"/>
            <a:ext cx="9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テーマ・開発環境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1314000"/>
            <a:ext cx="432000" cy="46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00" y="1368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1386000"/>
            <a:ext cx="9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ゲーム環境・状態・行動の設計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1908000"/>
            <a:ext cx="432000" cy="46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00" y="1962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1980000"/>
            <a:ext cx="9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報酬設計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" y="2501999"/>
            <a:ext cx="432000" cy="46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00" y="2556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2574000"/>
            <a:ext cx="9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方策（ε-greedy法）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3096000"/>
            <a:ext cx="432000" cy="46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00" y="3150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" y="3167999"/>
            <a:ext cx="9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アルゴリズム：DQN vs SARSA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00" y="3690000"/>
            <a:ext cx="432000" cy="46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00" y="3744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000" y="3761999"/>
            <a:ext cx="9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PSO によるハイパーパラメータ最適化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00" y="4283999"/>
            <a:ext cx="432000" cy="46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00" y="4338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000" y="4355999"/>
            <a:ext cx="9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カーナビ風可視化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00" y="4878000"/>
            <a:ext cx="432000" cy="46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00" y="4932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00" y="4949999"/>
            <a:ext cx="9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学習曲線グラフ・実行画面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00" y="5472000"/>
            <a:ext cx="432000" cy="46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00" y="5526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5543999"/>
            <a:ext cx="9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今後の予定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3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テーマ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0000" y="6678000"/>
            <a:ext cx="5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00"/>
            <a:ext cx="12193200" cy="54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72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3A5C"/>
                </a:solidFill>
              </a:rPr>
              <a:t>パックマン強化学習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0000" y="1260000"/>
            <a:ext cx="9313200" cy="288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00" y="1440000"/>
            <a:ext cx="3780000" cy="19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" y="1440000"/>
            <a:ext cx="3780000" cy="36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45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🟡 ゲーム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1872000"/>
            <a:ext cx="356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22×19 グリッドのパックマン環境
4体のゴースト、156個のドット
パワーエサ4個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8000" y="1440000"/>
            <a:ext cx="3780000" cy="19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8000" y="1440000"/>
            <a:ext cx="3780000" cy="36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0000" y="145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🤖 AI エージェント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6000" y="1872000"/>
            <a:ext cx="356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Deep Q-Network (DQN)
SARSA 学習
両アルゴリズムの比較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8000" y="1440000"/>
            <a:ext cx="3780000" cy="198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08000" y="1440000"/>
            <a:ext cx="3780000" cy="36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0000" y="145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🗺 カーナビ風可視化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6000" y="1872000"/>
            <a:ext cx="356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Q値→確率変換の方向矢印
ゴーストの予測経路表示
A* / BFS 経路探索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3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開発環境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0000" y="6678000"/>
            <a:ext cx="5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00"/>
            <a:ext cx="12193200" cy="54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" y="720000"/>
            <a:ext cx="1620000" cy="39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00" y="774000"/>
            <a:ext cx="15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言語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0000" y="774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Python 3.12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1152000"/>
            <a:ext cx="1620000" cy="39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000" y="1206000"/>
            <a:ext cx="15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ライブラリ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0000" y="1206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gymnasium、torch（Deep Learning）、pygame（描画）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1584000"/>
            <a:ext cx="1620000" cy="39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000" y="1638000"/>
            <a:ext cx="15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5"/>
                </a:solidFill>
              </a:rPr>
              <a:t>  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0000" y="1638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numpy、matplotlib、opencv-python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" y="2016000"/>
            <a:ext cx="1620000" cy="39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000" y="2070000"/>
            <a:ext cx="15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ハードウェア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0000" y="2070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Intel Core i7-1360P（12コア）、RAM 16GB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2448000"/>
            <a:ext cx="1620000" cy="39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000" y="2502000"/>
            <a:ext cx="15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GPU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0000" y="2502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Intel Iris Xe 128MB（torch-directml 経由で利用）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00" y="2880000"/>
            <a:ext cx="1620000" cy="39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000" y="2934000"/>
            <a:ext cx="15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0000" y="2934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Windows 11 Home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00" y="3311999"/>
            <a:ext cx="1620000" cy="39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000" y="3366000"/>
            <a:ext cx="15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80000" y="3366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VS Code / Claude Code CLI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3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進捗状況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0000" y="6678000"/>
            <a:ext cx="5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00"/>
            <a:ext cx="12193200" cy="54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" y="648000"/>
            <a:ext cx="11520000" cy="28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66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✅  完了済み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99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▸ gymnasium カスタム環境の実装（22×19グリッド）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1386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▸ Deep Q-Network (Double DQN) の実装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78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▸ SARSA エージェントの実装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2178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▸ DQN vs SARSA 比較スクリプト（comparison.png）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257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▸ PSO によるハイパーパラメータ最適化（pso_tuning.py）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297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▸ カーナビ風可視化（Q値矢印・ゴースト予測経路）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3366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▸ 学習曲線グラフ自動生成（learning_curve.png）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376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▸ 実行画面の録画機能（play.py --record）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3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ゲーム環境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0000" y="6678000"/>
            <a:ext cx="5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00"/>
            <a:ext cx="12193200" cy="54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" y="648000"/>
            <a:ext cx="5580000" cy="32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66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パックマン環境の仕様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972000"/>
            <a:ext cx="1980000" cy="324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1008000"/>
            <a:ext cx="19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グリッドサイズ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8000" y="1008000"/>
            <a:ext cx="31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22 × 19 マス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1368000"/>
            <a:ext cx="1980000" cy="324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000" y="1404000"/>
            <a:ext cx="19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ドット数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8000" y="1404000"/>
            <a:ext cx="31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156 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1764000"/>
            <a:ext cx="1980000" cy="324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000" y="1800000"/>
            <a:ext cx="19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パワーエサ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8000" y="1800000"/>
            <a:ext cx="31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4 個（ゴースト無敵化）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2160000"/>
            <a:ext cx="1980000" cy="324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000" y="2196000"/>
            <a:ext cx="19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ゴースト数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8000" y="2196000"/>
            <a:ext cx="31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4 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2556000"/>
            <a:ext cx="1980000" cy="324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000" y="2592000"/>
            <a:ext cx="19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最大ステップ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8000" y="2592000"/>
            <a:ext cx="31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2,000 ステップ / エピソード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2951999"/>
            <a:ext cx="1980000" cy="324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000" y="2987999"/>
            <a:ext cx="19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アルゴリズム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48000" y="2987999"/>
            <a:ext cx="31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Q-learning（DQN） / SARSA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3348000"/>
            <a:ext cx="1980000" cy="324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6000" y="3384000"/>
            <a:ext cx="19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経路探索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8000" y="3384000"/>
            <a:ext cx="31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A* （パックマン）/ BFS （ゴースト）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0000" y="648000"/>
            <a:ext cx="5940000" cy="3240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2000" y="666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観測状態（1682次元ベクトル）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8000" y="972000"/>
            <a:ext cx="57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・パックマン位置（1×2）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28000" y="1350000"/>
            <a:ext cx="57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・ドット位置マップ（22×19=418）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8000" y="1728000"/>
            <a:ext cx="57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・ゴースト位置×4（4×2=8）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8000" y="2106000"/>
            <a:ext cx="57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・パワーエサ位置（4×2=8）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8000" y="2484000"/>
            <a:ext cx="57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・ゴーストのscared状態（4）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28000" y="2862000"/>
            <a:ext cx="57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・A*次の一手（方向 one-hot 4）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28000" y="3240000"/>
            <a:ext cx="57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・ゴーストBFS次の一手×4（4×4=16）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28000" y="3618000"/>
            <a:ext cx="57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・壁マップ（22×19=418）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28000" y="3996000"/>
            <a:ext cx="57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合計：1682 次元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3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報酬設計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0000" y="6678000"/>
            <a:ext cx="5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00"/>
            <a:ext cx="12193200" cy="54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6000" y="648000"/>
            <a:ext cx="11772000" cy="28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6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イベント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0" y="666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報酬値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0000" y="666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説明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00" y="954000"/>
            <a:ext cx="117720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00" y="990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ドット取得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0000" y="990000"/>
            <a:ext cx="1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+2.0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0000" y="990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エサを食べるたびに獲得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6000" y="1314000"/>
            <a:ext cx="11772000" cy="3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00" y="1350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パワーエサ取得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0000" y="1350000"/>
            <a:ext cx="1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+5.0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0000" y="1350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ゴーストが逃げ出す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6000" y="1674000"/>
            <a:ext cx="117720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00" y="1710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ゴースト撃退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0000" y="1710000"/>
            <a:ext cx="1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+5.0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0000" y="1710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scared 状態のゴーストを捕食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6000" y="2034000"/>
            <a:ext cx="11772000" cy="3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00" y="2070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ドットへ接近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0000" y="2070000"/>
            <a:ext cx="1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+0.3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0000" y="2070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報酬整形（PBRS）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6000" y="2394000"/>
            <a:ext cx="117720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00" y="2430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ドットから後退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0000" y="2430000"/>
            <a:ext cx="1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02B"/>
                </a:solidFill>
              </a:rPr>
              <a:t>-0.1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0000" y="2430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報酬整形（PBRS）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6000" y="2754000"/>
            <a:ext cx="11772000" cy="3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00" y="2790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ゴースト隣接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0000" y="2790000"/>
            <a:ext cx="1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02B"/>
                </a:solidFill>
              </a:rPr>
              <a:t>-1.5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0000" y="2790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1マス以内に接触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000" y="3114000"/>
            <a:ext cx="117720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00" y="3150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ゴースト近接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0000" y="3150000"/>
            <a:ext cx="1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F00"/>
                </a:solidFill>
              </a:rPr>
              <a:t>-0.5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0000" y="3150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2マス以内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6000" y="3474000"/>
            <a:ext cx="11772000" cy="3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000" y="3510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パワーエサ近く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0000" y="3510000"/>
            <a:ext cx="1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+0.3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60000" y="3510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パワーエサへの誘導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6000" y="3834000"/>
            <a:ext cx="117720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8000" y="3870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壁への衝突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0000" y="3870000"/>
            <a:ext cx="1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02B"/>
                </a:solidFill>
              </a:rPr>
              <a:t>-0.5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60000" y="3870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移動不能な方向への行動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6000" y="4194000"/>
            <a:ext cx="11772000" cy="3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8000" y="4230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ゴーストに捕捉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80000" y="4230000"/>
            <a:ext cx="1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02B"/>
                </a:solidFill>
              </a:rPr>
              <a:t>-10.0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60000" y="4230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エピソード終了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6000" y="4554000"/>
            <a:ext cx="117720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8000" y="4590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全ドットクリア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80000" y="4590000"/>
            <a:ext cx="1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+50.0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60000" y="4590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エピソード成功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6000" y="4914000"/>
            <a:ext cx="11772000" cy="3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8000" y="4950000"/>
            <a:ext cx="43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時間経過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80000" y="4950000"/>
            <a:ext cx="18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F00"/>
                </a:solidFill>
              </a:rPr>
              <a:t>-0.02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60000" y="4950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長引くことへのペナルティ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3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行動の数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0000" y="6678000"/>
            <a:ext cx="5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00"/>
            <a:ext cx="12193200" cy="54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48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3A5C"/>
                </a:solidFill>
              </a:rPr>
              <a:t>4方向への移動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0000" y="1080000"/>
            <a:ext cx="9313200" cy="288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000" y="1260000"/>
            <a:ext cx="2520000" cy="21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0000" y="1260000"/>
            <a:ext cx="2520000" cy="7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1296000"/>
            <a:ext cx="2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2052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A5C"/>
                </a:solidFill>
              </a:rPr>
              <a:t>上（UP）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2448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行 -1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0" y="1260000"/>
            <a:ext cx="2520000" cy="21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00000" y="1260000"/>
            <a:ext cx="2520000" cy="7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0" y="1296000"/>
            <a:ext cx="2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0" y="2052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A5C"/>
                </a:solidFill>
              </a:rPr>
              <a:t>下（DOWN）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2448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行 +1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80000" y="1260000"/>
            <a:ext cx="2520000" cy="21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80000" y="1260000"/>
            <a:ext cx="2520000" cy="7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0000" y="1296000"/>
            <a:ext cx="2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0000" y="2052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A5C"/>
                </a:solidFill>
              </a:rPr>
              <a:t>左（LEFT）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0" y="2448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列 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60000" y="1260000"/>
            <a:ext cx="2520000" cy="21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60000" y="1260000"/>
            <a:ext cx="2520000" cy="72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0000" y="1296000"/>
            <a:ext cx="2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0000" y="2052000"/>
            <a:ext cx="2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A5C"/>
                </a:solidFill>
              </a:rPr>
              <a:t>右（RIGHT）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0000" y="2448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列 +1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000" y="3671999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E7402B"/>
                </a:solidFill>
              </a:rPr>
              <a:t>壁方向へ移動した場合：罰則 -0.5（位置は変化しない）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3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方策（ε-greedy 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0000" y="6678000"/>
            <a:ext cx="5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00"/>
            <a:ext cx="12193200" cy="5400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" y="648000"/>
            <a:ext cx="11520000" cy="16200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72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3A5C"/>
                </a:solidFill>
              </a:rPr>
              <a:t>ε-greedy 方策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080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</a:rPr>
              <a:t>π(a | s) =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386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</a:rPr>
              <a:t>    argmax  Q(s, a)    （確率 1 − ε  ← 活用）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69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</a:rPr>
              <a:t>      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1998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</a:rPr>
              <a:t>    ランダム行動         （確率    ε  ← 探索）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2304000"/>
            <a:ext cx="11520000" cy="1728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2376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86AB"/>
                </a:solidFill>
              </a:rPr>
              <a:t>ε の減衰スケジュール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2700000"/>
            <a:ext cx="9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ε_t  =  max( ε_min ,  ε_0 × λ^t 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" y="3168000"/>
            <a:ext cx="11520000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00" y="3186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記号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0000" y="3186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パラメータ名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0" y="3186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設定値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000" y="3186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意味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3456000"/>
            <a:ext cx="11520000" cy="30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00" y="3491999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ε_0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80000" y="3491999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epsilon_start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3491999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</a:rPr>
              <a:t>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000" y="3491999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最初は完全にランダム探索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00" y="3780000"/>
            <a:ext cx="115200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0000" y="3816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ε_min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80000" y="3816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epsilon_end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0000" y="3816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</a:rPr>
              <a:t>0.0248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000" y="3816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PSO最適化済（常に最低2.5%探索）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00" y="4104000"/>
            <a:ext cx="11520000" cy="30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000" y="4140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80000" y="4140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epsilon_decay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0000" y="4140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</a:rPr>
              <a:t>0.9945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000" y="4140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1ステップごとの乗算減衰率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000" y="4428000"/>
            <a:ext cx="11520000" cy="3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0000" y="4464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80000" y="4464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0000" y="4464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</a:rPr>
              <a:t>-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0000" y="4464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経過ステップ数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3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アルゴリズム比較：DQN vs SARSA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0000" y="6678000"/>
            <a:ext cx="5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00"/>
            <a:ext cx="12193200" cy="54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00" y="648000"/>
            <a:ext cx="5760000" cy="3420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000" y="648000"/>
            <a:ext cx="5760000" cy="360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999" y="666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Deep Q-Network（DQN）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999" y="10800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【方策種別】オフポリシー（Off-policy）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999" y="13752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【Qターゲット】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999" y="16704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  target = r + γ · max Q(s', 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999" y="19656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                      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999" y="22608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【特性】積極的・攻撃的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999" y="25560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  最良行動を常に仮定して更新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999" y="28512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  → 高スコアを狙いやすい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999" y="3146399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  ただし Q値の過大評価が起きやすい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999" y="3441599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【追加機能】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999" y="3736799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  ・Target Network（安定化）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999" y="4031999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  ・Experience Replay（50,000）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999" y="43272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  ・Double DQN（過大評価抑制）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0000" y="648000"/>
            <a:ext cx="5760000" cy="3420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0000" y="648000"/>
            <a:ext cx="5760000" cy="360000"/>
          </a:xfrm>
          <a:prstGeom prst="rect">
            <a:avLst/>
          </a:prstGeom>
          <a:solidFill>
            <a:srgbClr val="E7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2000" y="666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SARSA（Deep SARSA）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2000" y="10800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02B"/>
                </a:solidFill>
              </a:rPr>
              <a:t>【方策種別】オンポリシー（On-policy）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2000" y="13752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02B"/>
                </a:solidFill>
              </a:rPr>
              <a:t>【Qターゲット】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2000" y="16704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  a' = π(s')  ← ε-greedy で選択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2000" y="19656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  target = r + γ · Q(s', a')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2000" y="22608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02B"/>
                </a:solidFill>
              </a:rPr>
              <a:t>【特性】保守的・安全重視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2000" y="25560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  実際に取る行動を反映して更新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2000" y="28512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  → 探索（ランダム）も学習に組込む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2000" y="3146399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  ゴースト回避が安定しやすい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2000" y="3441599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02B"/>
                </a:solidFill>
              </a:rPr>
              <a:t>【実装の違い】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2000" y="3736799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  ・バッファに next_action も保存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2000" y="4031999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  ・Target Network なし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2000" y="4327200"/>
            <a:ext cx="5580000" cy="2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  ・(s, a, r, s', a') タプル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3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PSO（粒子群最適化）とは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0000" y="6678000"/>
            <a:ext cx="5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00"/>
            <a:ext cx="12193200" cy="54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" y="648000"/>
            <a:ext cx="11520000" cy="432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84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86AB"/>
                </a:solidFill>
              </a:rPr>
              <a:t>粒子群最適化（Particle Swarm Optimization）－ Kennedy &amp; Eberhart, 1995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1152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A5C"/>
                </a:solidFill>
              </a:rPr>
              <a:t>更新式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1440000"/>
            <a:ext cx="11520000" cy="100799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000" y="1512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</a:rPr>
              <a:t>v[i]  =  w · v[i]  +  c₁ · r₁ · (pbest[i] − x[i])  +  c₂ · r₂ · (gbest − x[i])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1818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              ↑慣性項              ↑認知項（自己の経験）          ↑社会項（群れの知識）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2124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</a:rPr>
              <a:t>x[i]  =  x[i]  +  v[i]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252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A5C"/>
                </a:solidFill>
              </a:rPr>
              <a:t>パラメータ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2808000"/>
            <a:ext cx="11520000" cy="251999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2826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記号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0000" y="2826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名称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0000" y="2826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設定値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0000" y="2826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役割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00" y="3096000"/>
            <a:ext cx="115200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00" y="313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</a:rPr>
              <a:t>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0000" y="313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慣性重み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0000" y="313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0.9→0.4（線形減衰）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0000" y="3131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広域探索→局所精密化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00" y="3437999"/>
            <a:ext cx="11520000" cy="3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000" y="3473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</a:rPr>
              <a:t>c₁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0000" y="3473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認知係数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0000" y="3473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0000" y="3473999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自己のpbestへ引き寄せる強さ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00" y="3780000"/>
            <a:ext cx="11520000" cy="32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000" y="3816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</a:rPr>
              <a:t>c₂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0000" y="3816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社会係数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60000" y="3816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1.5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0000" y="3816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群れのgbestへ引き寄せる強さ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4212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探索するパラメータ: log(learning_rate)、epsilon_end、epsilon_decay、gamma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3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カーナビ風可視化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0000" y="6678000"/>
            <a:ext cx="5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00"/>
            <a:ext cx="12193200" cy="54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" y="720000"/>
            <a:ext cx="11520000" cy="1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720000"/>
            <a:ext cx="2340000" cy="126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080000"/>
            <a:ext cx="223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Q値→方向確率の矢印表示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827999"/>
            <a:ext cx="90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各セルに4方向の矢印を描画
Q値をsoftmax変換→行動確率
矢印の長さ・色で確率を表現
壁方向は半透明で表示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088000"/>
            <a:ext cx="11520000" cy="1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00" y="2088000"/>
            <a:ext cx="2340000" cy="126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2448000"/>
            <a:ext cx="223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ゴーストの予測経路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0000" y="2196000"/>
            <a:ext cx="90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BFSでパックマンへの最短経路計算
各ゴーストに色付きの経路線を表示
経路の先ほど半透明になる
危険度の視覚的な把握が可能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3456000"/>
            <a:ext cx="11520000" cy="1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000" y="3456000"/>
            <a:ext cx="2340000" cy="126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00" y="3816000"/>
            <a:ext cx="223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A* 経路表示（カーナビ風）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0000" y="3564000"/>
            <a:ext cx="90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パックマンから最近傍ドットへ
A*アルゴリズムで最短経路探索
マンハッタン距離をヒューリスティクス
カーナビの推奨経路に相当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3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学習曲線グラフ（DQN vs SARSA）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0000" y="6678000"/>
            <a:ext cx="5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00"/>
            <a:ext cx="12193200" cy="5400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" y="648000"/>
            <a:ext cx="11520000" cy="4320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84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F00"/>
                </a:solidFill>
              </a:rPr>
              <a:t>指摘対応：縦軸（左）にスコア推移、縦軸（右）にε（探索率）の変化を重ねて表示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1152000"/>
            <a:ext cx="11520000" cy="291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1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二軸グラフのイメージ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1620000"/>
            <a:ext cx="900000" cy="54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2000" y="1512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──  DQN スコア（100ep移動平均）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2016000"/>
            <a:ext cx="900000" cy="54000"/>
          </a:xfrm>
          <a:prstGeom prst="rect">
            <a:avLst/>
          </a:prstGeom>
          <a:solidFill>
            <a:srgbClr val="E74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12000" y="190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──  SARSA スコア（100ep移動平均）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412000"/>
            <a:ext cx="900000" cy="5400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2000" y="2304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7F00"/>
                </a:solidFill>
              </a:rPr>
              <a:t>‥‥  ε（探索率）の減衰曲線  ε_t = max(0.025, 1.0 × 0.9945^t)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2808000"/>
            <a:ext cx="11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22222"/>
                </a:solidFill>
              </a:rPr>
              <a:t>ε が 1.0 → 0.025 へ収束する過程でスコアが上昇することを確認できる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3168000"/>
            <a:ext cx="11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86AB"/>
                </a:solidFill>
              </a:rPr>
              <a:t>→ 探索率の低下とスコア向上の相関関係が一目で把握可能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3671999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出力ファイル：comparison.png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3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PSO 収束グラフ（pbest / gbest）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0000" y="6678000"/>
            <a:ext cx="5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00"/>
            <a:ext cx="12193200" cy="5400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" y="648000"/>
            <a:ext cx="11520000" cy="4320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684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F00"/>
                </a:solidFill>
              </a:rPr>
              <a:t>指摘対応：各粒子の自己ベスト（pbest）と群れのベスト（gbest）を可視化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1152000"/>
            <a:ext cx="11520000" cy="291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18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グラフ構成（6パネル）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548000"/>
            <a:ext cx="3708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0000" y="1548000"/>
            <a:ext cx="3708000" cy="28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000" y="1583999"/>
            <a:ext cx="36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① 収束曲線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1908000"/>
            <a:ext cx="356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gbest スコアの推移（世代数 × スコア）
各粒子のpbestも散布点で重ねて表示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8000" y="1548000"/>
            <a:ext cx="3708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8000" y="1548000"/>
            <a:ext cx="3708000" cy="28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0" y="1583999"/>
            <a:ext cx="36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② 学習率の軌跡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0" y="1908000"/>
            <a:ext cx="356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gbest の learning_rate 推移（log スケール）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6000" y="1548000"/>
            <a:ext cx="3708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6000" y="1548000"/>
            <a:ext cx="3708000" cy="28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8000" y="1583999"/>
            <a:ext cx="36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③ ε_end の軌跡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8000" y="1908000"/>
            <a:ext cx="356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gbest の epsilon_end 推移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2808000"/>
            <a:ext cx="3708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0000" y="2808000"/>
            <a:ext cx="3708000" cy="28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000" y="2844000"/>
            <a:ext cx="36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④ ε_decay の軌跡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" y="3168000"/>
            <a:ext cx="356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gbest の epsilon_decay 推移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48000" y="2808000"/>
            <a:ext cx="3708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48000" y="2808000"/>
            <a:ext cx="3708000" cy="28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0000" y="2844000"/>
            <a:ext cx="36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⑤ γ の軌跡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0" y="3168000"/>
            <a:ext cx="356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gbest の gamma（割引率）推移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6000" y="2808000"/>
            <a:ext cx="3708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6000" y="2808000"/>
            <a:ext cx="3708000" cy="28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8000" y="2844000"/>
            <a:ext cx="36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⑥ 最適化結果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8000" y="3168000"/>
            <a:ext cx="356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最終 gbest パラメータ値の一覧表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396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出力ファイル：pso_convergence.png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3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PSO 最適化結果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0000" y="6678000"/>
            <a:ext cx="5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00"/>
            <a:ext cx="12193200" cy="54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720000"/>
            <a:ext cx="11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8888"/>
                </a:solidFill>
              </a:rPr>
              <a:t>実験条件：粒子数 5、世代数 5、評価エピソード 80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080000"/>
            <a:ext cx="11520000" cy="36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098000"/>
            <a:ext cx="2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パラメータ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0" y="1098000"/>
            <a:ext cx="2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探索範囲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1098000"/>
            <a:ext cx="2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PSO最適値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0" y="1098000"/>
            <a:ext cx="21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備考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1475999"/>
            <a:ext cx="11520000" cy="39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1548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learning_rate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0" y="1548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10⁻⁴ ～ 10⁻²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0000" y="1548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</a:rPr>
              <a:t>0.002056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0" y="1548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デフォルト比 約20倍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" y="1908000"/>
            <a:ext cx="11520000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00" y="1980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epsilon_end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0000" y="1980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0.01 ～ 0.20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0000" y="1980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</a:rPr>
              <a:t>0.0248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0000" y="1980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最終探索率 2.5%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00" y="2340000"/>
            <a:ext cx="11520000" cy="39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000" y="2412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epsilon_decay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0000" y="2412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0.990 ～ 0.9995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0000" y="2412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</a:rPr>
              <a:t>0.99454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0000" y="2412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デフォルト(0.995)と近似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00" y="2771999"/>
            <a:ext cx="11520000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000" y="2844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gamma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0000" y="2844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0.90 ～ 0.999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0000" y="2844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</a:rPr>
              <a:t>0.9294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0000" y="2844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デフォルト比 短期重視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00" y="3240000"/>
            <a:ext cx="11520000" cy="827999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0000" y="3276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スコア比較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000" y="3564000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手動設定（デフォルト）: 最高スコア  340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" y="3888000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PSO 最適化後            : 最高スコア  830   （約 2.4 倍向上）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3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今後の予定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0000" y="6678000"/>
            <a:ext cx="5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00"/>
            <a:ext cx="12193200" cy="54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" y="720000"/>
            <a:ext cx="2340000" cy="126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00" y="1116000"/>
            <a:ext cx="226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7月 2日まで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0000" y="720000"/>
            <a:ext cx="9180000" cy="1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2000" y="827999"/>
            <a:ext cx="90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・DQN と SARSA の比較実験（compare.py 実行・結果分析）
・comparison.png の考察をまとめる
・PSO 収束グラフ（pso_convergence.png）の解説追加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160000"/>
            <a:ext cx="2340000" cy="126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000" y="2556000"/>
            <a:ext cx="226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7月 9日まで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00000" y="2160000"/>
            <a:ext cx="9180000" cy="1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2000" y="2268000"/>
            <a:ext cx="90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・グラフの軸・凡例を改善（ε変化の二軸グラフ実装）
・PSO グラフへの pbest/gbest 可視化追加
・説明文書の更新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3600000"/>
            <a:ext cx="2340000" cy="126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000" y="3996000"/>
            <a:ext cx="226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最終発表まで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0000" y="3600000"/>
            <a:ext cx="9180000" cy="126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2000" y="3708000"/>
            <a:ext cx="90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・レポート作成（アルゴリズム理論・実験結果・考察）
・最終発表スライド整備
・動画デモ（録画機能 --record オプション）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4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36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60000"/>
            <a:ext cx="12193200" cy="180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0000" y="6678000"/>
            <a:ext cx="5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40000"/>
            <a:ext cx="12193200" cy="54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" y="648000"/>
            <a:ext cx="11520000" cy="352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827999"/>
            <a:ext cx="540000" cy="432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881999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7999" y="900000"/>
            <a:ext cx="106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深層強化学習（DQN / SARSA）によるパックマンの自律プレイを実現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385999"/>
            <a:ext cx="540000" cy="432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1439999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7999" y="1458000"/>
            <a:ext cx="106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カーナビ風可視化でAIの意思決定過程を直感的に表示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1944000"/>
            <a:ext cx="540000" cy="432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1998000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7999" y="2016000"/>
            <a:ext cx="106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PSOによる自動ハイパーパラメータ最適化（スコア 340 → 830）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2502000"/>
            <a:ext cx="540000" cy="432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2556000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999" y="2574000"/>
            <a:ext cx="106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DQN vs SARSA の特性比較を通じてオフ/オン方策の違いを実証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3060000"/>
            <a:ext cx="540000" cy="432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00" y="3114000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999" y="3131999"/>
            <a:ext cx="106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ε-greedy 法により探索と活用のバランスを学習中に動的に調整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3618000"/>
            <a:ext cx="540000" cy="432000"/>
          </a:xfrm>
          <a:prstGeom prst="rect">
            <a:avLst/>
          </a:prstGeom>
          <a:solidFill>
            <a:srgbClr val="FF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000" y="3672000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999" y="3690000"/>
            <a:ext cx="106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</a:rPr>
              <a:t>今後：詳細な比較分析・レポート・動画デモを完成させる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3200" cy="72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88000"/>
            <a:ext cx="12193200" cy="72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260000"/>
            <a:ext cx="11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ご清聴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2700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CC00"/>
                </a:solidFill>
              </a:rPr>
              <a:t>ありがとうございました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4140000"/>
            <a:ext cx="11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第◯班：Python言語と強化学習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